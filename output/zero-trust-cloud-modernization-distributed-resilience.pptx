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Open the architecture review with the strategic mandate: moving beyond perimeter defense to identity-centric continuous verification.
• Frame the discussion around cost efficiency, 99.999% availability, and automated failover.
--- TRANSITION ---
Let's review the strategic agenda for this architecture review.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Highlight the 30-second RTO achievement.
• Emphasize that zero-trust is not just security; it standardizes telemetry and network efficiency across all clusters.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Walk through the edge, mesh, and persistence layers.
• Show how CockroachDB and Kafka cross-region replication maintain data integrity even during total datacenter loss.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Summarize the 3 phased milestones.
• Request formal sign-off from the Security Council and VP of Infrastructure.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279"/>
            </a:avLst>
          </a:prstGeom>
          <a:solidFill>
            <a:srgbClr val="161E2E"/>
          </a:solidFill>
          <a:ln w="19050">
            <a:solidFill>
              <a:srgbClr val="2E38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0728655" cy="137160"/>
          </a:xfrm>
          <a:prstGeom prst="roundRect">
            <a:avLst>
              <a:gd name="adj" fmla="val 53333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18872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ARCHITECTURE 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98142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Cloud Modernization &amp; Distributed Resilience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88720" y="3337560"/>
            <a:ext cx="98142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Legacy Monoliths to an Event-Driven, Multi-Region Service Mesh with Continuous Verification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160520"/>
            <a:ext cx="9814255" cy="18288"/>
          </a:xfrm>
          <a:prstGeom prst="rect">
            <a:avLst/>
          </a:prstGeom>
          <a:solidFill>
            <a:srgbClr val="2E384D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89120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CTO  •  Chief Cloud Architect  •  Global Platform Engineering  •  Architecture Review Q4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4892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4892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4910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0" y="4892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4910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06440" y="4892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4892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Imperative: Quantifying Resiliency &amp; Security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measurements from our 2026 enterprise cloud readiness audit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10728655" cy="2296607"/>
          </a:xfrm>
          <a:prstGeom prst="roundRect">
            <a:avLst>
              <a:gd name="adj" fmla="val 5972"/>
            </a:avLst>
          </a:prstGeom>
          <a:solidFill>
            <a:srgbClr val="161E2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84248"/>
            <a:ext cx="99971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99.999%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97280" y="3081528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ANNUAL SERVICE AVAILABILITY ACROSS 3 ACTIVE REGIONS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447288"/>
            <a:ext cx="92656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service mesh architecture with automated multi-region traffic routing eliminates single points of failure.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326575"/>
            <a:ext cx="3423818" cy="1891345"/>
          </a:xfrm>
          <a:prstGeom prst="roundRect">
            <a:avLst>
              <a:gd name="adj" fmla="val 7252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09455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" y="4966655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/ Failover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240975"/>
            <a:ext cx="3149498" cy="8855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DNS steering and state synchronization enable regional evacuation within 30 seconds.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3938" y="4326575"/>
            <a:ext cx="3423818" cy="1891345"/>
          </a:xfrm>
          <a:prstGeom prst="roundRect">
            <a:avLst>
              <a:gd name="adj" fmla="val 7252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1098" y="4509455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21098" y="4966655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Coverage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1098" y="5240975"/>
            <a:ext cx="3149498" cy="8855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internal microservice hop encrypted and authenticated with SPIFFE/SPIRE workload identities.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36357" y="4326575"/>
            <a:ext cx="3423818" cy="1891345"/>
          </a:xfrm>
          <a:prstGeom prst="roundRect">
            <a:avLst>
              <a:gd name="adj" fmla="val 7252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3517" y="4509455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73517" y="4966655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73517" y="5240975"/>
            <a:ext cx="3149498" cy="8855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Graviton ARM instances and dynamic pod autoscaling yield immediate infrastructure savings.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2E384D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Cloud Modernization &amp; Distributed Resilience | Enterprise Architecture 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 TOPOLOGY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 Distributed Mesh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anycast edge routing down to isolated sovereign data planes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10728655" cy="1136904"/>
          </a:xfrm>
          <a:prstGeom prst="roundRect">
            <a:avLst>
              <a:gd name="adj" fmla="val 120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38528"/>
            <a:ext cx="1920240" cy="862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EDGE TIER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938528"/>
            <a:ext cx="18288" cy="8625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1938528"/>
            <a:ext cx="4015588" cy="862584"/>
          </a:xfrm>
          <a:prstGeom prst="roundRect">
            <a:avLst>
              <a:gd name="adj" fmla="val 15901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2029968"/>
            <a:ext cx="3741268" cy="219456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048256"/>
            <a:ext cx="374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18688" y="2322576"/>
            <a:ext cx="3796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Anycast Edge DNS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596896"/>
            <a:ext cx="3832708" cy="15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shielding &amp; Geo-routing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61708" y="1938528"/>
            <a:ext cx="4015588" cy="862584"/>
          </a:xfrm>
          <a:prstGeom prst="roundRect">
            <a:avLst>
              <a:gd name="adj" fmla="val 15901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8868" y="2029968"/>
            <a:ext cx="3741268" cy="219456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8868" y="2048256"/>
            <a:ext cx="374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71436" y="2322576"/>
            <a:ext cx="3796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&amp; Rate Limiting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53148" y="2596896"/>
            <a:ext cx="3832708" cy="15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filters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121152"/>
            <a:ext cx="10728655" cy="1136904"/>
          </a:xfrm>
          <a:prstGeom prst="roundRect">
            <a:avLst>
              <a:gd name="adj" fmla="val 120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58312"/>
            <a:ext cx="1920240" cy="862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SERVICE MESH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0" y="3258312"/>
            <a:ext cx="18288" cy="8625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3258312"/>
            <a:ext cx="2631338" cy="862584"/>
          </a:xfrm>
          <a:prstGeom prst="roundRect">
            <a:avLst>
              <a:gd name="adj" fmla="val 15901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3349752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368040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18688" y="3642360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 Data Plane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916680"/>
            <a:ext cx="2448458" cy="15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termination &amp; circuit breaking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77458" y="3258312"/>
            <a:ext cx="2631338" cy="862584"/>
          </a:xfrm>
          <a:prstGeom prst="roundRect">
            <a:avLst>
              <a:gd name="adj" fmla="val 15901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14618" y="3349752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4618" y="3368040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7186" y="3642360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Istio Control Plane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68898" y="3916680"/>
            <a:ext cx="2448458" cy="15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traffic steering &amp; auth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645957" y="3258312"/>
            <a:ext cx="2631338" cy="862584"/>
          </a:xfrm>
          <a:prstGeom prst="roundRect">
            <a:avLst>
              <a:gd name="adj" fmla="val 15901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83117" y="3349752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83117" y="3368040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SPIFFE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55685" y="3642360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SPIRE Identity Server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37397" y="3916680"/>
            <a:ext cx="2448458" cy="15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workload IDs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4440936"/>
            <a:ext cx="10728655" cy="1136904"/>
          </a:xfrm>
          <a:prstGeom prst="roundRect">
            <a:avLst>
              <a:gd name="adj" fmla="val 120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578096"/>
            <a:ext cx="1920240" cy="862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PERSISTENCE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26080" y="4578096"/>
            <a:ext cx="18288" cy="8625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08960" y="4578096"/>
            <a:ext cx="4015588" cy="862584"/>
          </a:xfrm>
          <a:prstGeom prst="roundRect">
            <a:avLst>
              <a:gd name="adj" fmla="val 15901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4669536"/>
            <a:ext cx="3741268" cy="219456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4687824"/>
            <a:ext cx="374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18688" y="4962144"/>
            <a:ext cx="3796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SQL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0" y="5236464"/>
            <a:ext cx="3832708" cy="15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multi-region cluster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61708" y="4578096"/>
            <a:ext cx="4015588" cy="862584"/>
          </a:xfrm>
          <a:prstGeom prst="roundRect">
            <a:avLst>
              <a:gd name="adj" fmla="val 15901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98868" y="4669536"/>
            <a:ext cx="3741268" cy="219456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98868" y="4687824"/>
            <a:ext cx="374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71436" y="4962144"/>
            <a:ext cx="37961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Event Backbone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53148" y="5236464"/>
            <a:ext cx="3832708" cy="15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Geo-replicated audit event streams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" y="5669280"/>
            <a:ext cx="10728655" cy="54864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576072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PRINCIPLE: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the perimeter: all inter-service communications require ephemeral cryptographic tokens validated at every network hop.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2E384D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Cloud Modernization &amp; Distributed Resilience | Enterprise Architecture Board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Board Strategic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rollout timeline for engineering directorates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10728655" cy="1072896"/>
          </a:xfrm>
          <a:prstGeom prst="roundRect">
            <a:avLst>
              <a:gd name="adj" fmla="val 12784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01368"/>
            <a:ext cx="91440" cy="1072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92808"/>
            <a:ext cx="411480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892808"/>
            <a:ext cx="9814255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Phase 1: Identity &amp; mTLS Baseline: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Deploy SPIRE identity agents to all 12 Kubernetes clusters by the end of Q1.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038856"/>
            <a:ext cx="10728655" cy="1072896"/>
          </a:xfrm>
          <a:prstGeom prst="roundRect">
            <a:avLst>
              <a:gd name="adj" fmla="val 12784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38856"/>
            <a:ext cx="91440" cy="1072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30296"/>
            <a:ext cx="411480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130296"/>
            <a:ext cx="9814255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Phase 2: Active-Active Data Plane: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Complete CockroachDB multi-region pilot for core transaction services in Q2.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276344"/>
            <a:ext cx="10728655" cy="1072896"/>
          </a:xfrm>
          <a:prstGeom prst="roundRect">
            <a:avLst>
              <a:gd name="adj" fmla="val 12784"/>
            </a:avLst>
          </a:prstGeom>
          <a:solidFill>
            <a:srgbClr val="161E2E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76344"/>
            <a:ext cx="91440" cy="1072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367784"/>
            <a:ext cx="411480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367784"/>
            <a:ext cx="9814255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Phase 3: Chaos Engineering &amp; Automated Failover: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Execute monthly simulated region blackout drills to validate the 30-second RTO guarantee.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532120"/>
            <a:ext cx="10728655" cy="6858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623560"/>
            <a:ext cx="101800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Board vote scheduled for November 15: approval for Phase 1 capital allocation.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2E384D"/>
          </a:solidFill>
          <a:ln w="12700">
            <a:solidFill>
              <a:srgbClr val="2E38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Cloud Modernization &amp; Distributed Resilience | Enterprise Architecture 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Enterprise Architecture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Zero-Trust Cloud Modernization &amp; Distributed Resilience</dc:title>
  <dc:subject>Enterprise Cloud Architecture Review</dc:subject>
  <dc:creator>Chief Cloud Architect</dc:creator>
  <cp:lastModifiedBy>Chief Cloud Architect</cp:lastModifiedBy>
  <cp:revision>1</cp:revision>
  <dcterms:created xsi:type="dcterms:W3CDTF">2026-10-21T16:50:03Z</dcterms:created>
  <dcterms:modified xsi:type="dcterms:W3CDTF">2026-10-21T16:50:03Z</dcterms:modified>
</cp:coreProperties>
</file>