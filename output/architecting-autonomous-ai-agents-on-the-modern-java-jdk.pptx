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(Agent Req / sec)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Platform (100 Threads)</c:v>
                  </c:pt>
                  <c:pt idx="1">
                    <c:v>Platform (500 Threads)</c:v>
                  </c:pt>
                  <c:pt idx="2">
                    <c:v>Virtual Threads (Loom)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</c:v>
                </c:pt>
                <c:pt idx="1">
                  <c:v>480</c:v>
                </c:pt>
                <c:pt idx="2">
                  <c:v>2450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Heap Memory Consumed (MB)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Platform (100 Threads)</c:v>
                  </c:pt>
                  <c:pt idx="1">
                    <c:v>Platform (500 Threads)</c:v>
                  </c:pt>
                  <c:pt idx="2">
                    <c:v>Virtual Threads (Loom)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340</c:v>
                </c:pt>
                <c:pt idx="1">
                  <c:v>920</c:v>
                </c:pt>
                <c:pt idx="2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Welcome attendees to this deep dive into building production-grade autonomous agents on the modern JVM.
• While Python pioneered prototyping in the LLM explosion, enterprise deployment in 2026 requires strict type-safety, predictable throughput, multi-tenant memory isolation, and deep observability.
• Over the next 45 minutes, we will unpack how Java 21+, Project Loom, and modern JVM agent frameworks solve the biggest production headaches of AI agents.
--- TRANSITION ---
Let's begin by reviewing the roadmap of topics covered in today's architecture session.
[Target Duration: 3m 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Walk through the 5 architectural modules.
• Emphasize that we start with the JVM's foundational primitives before layering on frameworks and multi-agent coordination.
• Every section features working code, real-world benchmarks, and actionable patterns.
--- TRANSITION ---
Let's dive into Section 1 to understand why Java is surging as the preferred platform for enterprise AI agents.
[Target Duration: 2m 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Set the architectural stage: Agent workloads are fundamentally I/O bound, not compute bound.
• Traditional OS platform threads cost ~1MB stack and crash under tens of thousands of concurrent agent loops.
• Java 21 virtual threads invert this economics completely.
--- TRANSITION ---
Let's examine the concrete metrics behind this JVM advantage.
[Target Duration: 1m 30s]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Contrast 1,000,000 virtual threads against traditional OS threads where 5,000 threads frequently trigger OutOfMemoryError.
• Explain that when an agent calls an OpenAI, Anthropic, or local vLLM endpoint that takes 1.5 seconds to stream tokens, the carrier thread immediately handles another agent task.
• Show how Generational ZGC eliminates latency spikes during live user interactions.
--- TRANSITION ---
Now let's examine how these primitives assemble into an end-to-end agentic system architecture.
[Target Duration: 3m 0s]
--- REFERENCES &amp; CITATIONS ---
• JEP 444: Virtual Threads Specification: https://openjdk.org/jeps/444 (OpenJDK Official Specification)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Walk through the four architectural tiers from top to bottom.
• Highlight how OpenTelemetry spans travel seamlessly across virtual threads using Scoped Values (JEP 446/481) instead of fragile ThreadLocals.
• Point out the integration with enterprise databases like PostgreSQL with pgvector for both RAG embeddings and ACID compliance.
--- TRANSITION ---
Let's see how this execution layer is implemented in clean Java code using Structured Concurrency.
[Target Duration: 4m 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Walk through the StructuredTaskScope block line by line.
• Explain why CompletableFuture.allOf() was error-prone: unhandled cancellation, thread pollution, and losing causal stack traces.
• Notice how scope.fork() automatically runs on virtual threads when invoked inside a virtual thread executor.
--- TRANSITION ---
Now let's examine the cognitive pipeline: how the agent reasons, decides, and executes steps in a ReAct loop.
[Target Duration: 3m 30s]
--- REFERENCES &amp; CITATIONS ---
• JEP 480: Structured Concurrency (Third Preview): https://openjdk.org/jeps/480 (Java 23/24 Structured Concurrency enhancements)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Explain each stage of the ReAct (Reason + Act) loop.
• Emphasize Step 3: Unlike Python dictionaries where missing keys cause runtime KeyErrors, Java uses records to validate schemas at the boundary.
• Mention Step 4's timeout and circuit breaker protection.
--- TRANSITION ---
Let's inspect how Java Records and annotations allow us to define tools in pure Java.
[Target Duration: 3m 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Demonstrate how elegant and modern Java code looks for tool calling.
• Highlight that the compiler protects you: if someone renames a field, compiler checks catch discrepancies immediately.
• Explain how Jackson or LangChain4j inspects records without bytecode enhancement.
--- TRANSITION ---
Now let's compare the leading enterprise frameworks built around these patterns: Spring AI vs LangChain4j.
[Target Duration: 3m 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Introduce the framework comparison section.
• Acknowledge that this is the #1 question from enterprise architects: 'Should we adopt Spring AI or LangChain4j?'
• Provide an objective, nuanced analysis based on production realities.
--- TRANSITION ---
Let's look at the side-by-side comparison across key architectural dimensions.
[Target Duration: 1m 30s]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Walk through each framework objectively.
• Highlight Spring AI's native integration if the organization is already a Spring Boot shop.
• Praise LangChain4j's incredible pace of innovation, modular JAR design, and Quarkus/Micronaut compatibility.
• Clarify when Semantic Kernel Java makes sense in Azure-heavy environments.
--- TRANSITION ---
Let's validate these architectural claims with real-world performance benchmarks.
[Target Duration: 3m 30s]
--- REFERENCES &amp; CITATIONS ---
• Spring AI Official Documentation: https://docs.spring.io/spring-ai/reference/ (Spring AI reference guide)
• LangChain4j GitHub Repository: https://github.com/langchain4j/langchain4j (Official open-source repository)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Explain the benchmark setup: 2,500 simultaneous agent interactions simulating realistic multi-turn reasoning with external API calls.
• Platform thread pools saturate quickly because each thread is held hostage during the 800ms model response.
• Virtual threads unmount effortlessly, achieving a massive 19.6x throughput increase with 77% less memory consumption.
--- TRANSITION ---
Let's see how this plays out in an actual enterprise production case study.
[Target Duration: 3m 30s]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Share the real-world story of this financial institution.
• Highlight that because it was built on the JVM, the bank didn't need to spin up separate untrusted Python infrastructure.
• Emphasize the human-in-the-loop design: the agent swarm prepares the full investigative dossier, but the human analyst clicks the final authorization.
--- TRANSITION ---
Let's address the elephant in the room: What are the genuine trade-offs between Java and Python for AI agents?
[Target Duration: 3m 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Do not be dogmatic: Give Python credit where credit is due (Jupyter, research papers, quick prototypes).
• Explain why when systems reach production—with 99.99% SLAs, compliance audits, and massive concurrency—the JVM's type system and threading shine.
• Reiterate the two-speed architecture: research in Python, production in Java.
--- TRANSITION ---
Let's summarize the key strategic takeaways for engineering teams.
[Target Duration: 3m 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Review the five strategic pillars with the audience.
• Challenge the engineering leads: Don't wait for a dedicated AI team; your existing Java backend team has all the primitives needed.
• Reiterate the call to action: Start with a bounded pilot project.
--- TRANSITION ---
Let's open the floor for questions and review the curated reference links and specifications.
[Target Duration: 2m 30s]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Thank the conference attendees and organizers.
• Mention that all references are verified links to official OpenJDK specifications and framework manuals.
• Invite audience members to ask questions regarding virtual thread tuning, vector database scaling, or production debugging.
--- TRANSITION ---
Wrap up and initiate Q&amp;A discussion.
[Target Duration: 3m 0s]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0728655" cy="137160"/>
          </a:xfrm>
          <a:prstGeom prst="roundRect">
            <a:avLst>
              <a:gd name="adj" fmla="val 5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188720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207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 TECHNICAL DEEP DIVE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98142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Architecting Autonomous AI Agents on the Modern Java JDK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88720" y="3337560"/>
            <a:ext cx="98142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Harnessing Virtual Threads, Structured Concurrency, and Type-Safe Frameworks for High-Throughput Agentic Systems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160520"/>
            <a:ext cx="981425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89120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Systems Architecture Group  •  Principal AI Systems Engineer  •  Enterprise AI &amp; JVM Systems  •  Technical Conference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4892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910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21+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4892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4910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LOOM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23360" y="48920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4910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4892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4910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LANGCHAIN4J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48920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4910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Architecture &amp; Exploration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journey from low-level JDK primitives to distributed enterprise agent swarms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10728655" cy="773582"/>
          </a:xfrm>
          <a:prstGeom prst="roundRect">
            <a:avLst>
              <a:gd name="adj" fmla="val 21277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92808"/>
            <a:ext cx="590702" cy="590702"/>
          </a:xfrm>
          <a:prstGeom prst="roundRect">
            <a:avLst>
              <a:gd name="adj" fmla="val 15480"/>
            </a:avLst>
          </a:prstGeom>
          <a:solidFill>
            <a:srgbClr val="2563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92808"/>
            <a:ext cx="590702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87982" y="1892808"/>
            <a:ext cx="9406433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The Modern JVM Advantage for AI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—  Project Loom, Virtual Threads, and memory predictability under heavy agent concurrency.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12110"/>
            <a:ext cx="10728655" cy="773582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803550"/>
            <a:ext cx="590702" cy="590702"/>
          </a:xfrm>
          <a:prstGeom prst="roundRect">
            <a:avLst>
              <a:gd name="adj" fmla="val 15480"/>
            </a:avLst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03550"/>
            <a:ext cx="590702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87982" y="2803550"/>
            <a:ext cx="9406433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Agentic Architecture &amp; Cognitive Loops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—  Deconstructing ReAct loops, state management, long-term memory, and reflection in Java.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622853"/>
            <a:ext cx="10728655" cy="773582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714293"/>
            <a:ext cx="590702" cy="590702"/>
          </a:xfrm>
          <a:prstGeom prst="roundRect">
            <a:avLst>
              <a:gd name="adj" fmla="val 15480"/>
            </a:avLst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14293"/>
            <a:ext cx="590702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87982" y="3714293"/>
            <a:ext cx="9406433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Type-Safe Tool Dispatch &amp; Structured Concurrency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—  Hands-on code with JEP 480 StructuredTaskScope, Java Records, and reflection-free schema generation.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533595"/>
            <a:ext cx="10728655" cy="773582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625035"/>
            <a:ext cx="590702" cy="590702"/>
          </a:xfrm>
          <a:prstGeom prst="roundRect">
            <a:avLst>
              <a:gd name="adj" fmla="val 15480"/>
            </a:avLst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625035"/>
            <a:ext cx="590702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87982" y="4625035"/>
            <a:ext cx="9406433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Framework Ecosystem: Spring AI vs LangChain4j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—  Head-to-head comparison of architecture, vector integration, ergonomics, and production readiness.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5444338"/>
            <a:ext cx="10728655" cy="773582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5535778"/>
            <a:ext cx="590702" cy="590702"/>
          </a:xfrm>
          <a:prstGeom prst="roundRect">
            <a:avLst>
              <a:gd name="adj" fmla="val 15480"/>
            </a:avLst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535778"/>
            <a:ext cx="590702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87982" y="5535778"/>
            <a:ext cx="9406433" cy="590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Production Benchmarks, Case Study &amp; Architecture Verdict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—  Real-world fraud analysis mesh, latency metrics, trade-offs vs Python, and enterprise action plan.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37160" cy="557784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188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207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963137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JVM Foundation for AI Agents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80160" y="3200400"/>
            <a:ext cx="96313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spend over 85% of their execution cycle blocked on I/O: waiting for model inferencing, vector search returns, and external tool APIs. The modern Java runtime turns this bottleneck into an architectural superpower.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438912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407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JEP 444: VIRTUAL THREADS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4389120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4407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JEP 480: STRUCTURED CONCURRENCY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06640" y="43891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4407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ZGC / GENERATIONAL ZGC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966960" y="438912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4407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MEMORY PREDICTABILITY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PRIMITIVES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Unprecedented Concurrency for I/O-Bound Agent Loops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JVM advantage over traditional thread-per-task and async event loops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10728655" cy="2296607"/>
          </a:xfrm>
          <a:prstGeom prst="roundRect">
            <a:avLst>
              <a:gd name="adj" fmla="val 7167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84248"/>
            <a:ext cx="99971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97280" y="3081528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VIRTUAL THREADS PER STANDARD JVM NODE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447288"/>
            <a:ext cx="92656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 reduce carrier thread contention to zero, allowing million-scale agent instances to wait on LLM tokens with negligible heap footprint.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326575"/>
            <a:ext cx="3423818" cy="1891345"/>
          </a:xfrm>
          <a:prstGeom prst="roundRect">
            <a:avLst>
              <a:gd name="adj" fmla="val 8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09455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KB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" y="4966655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Footprint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240975"/>
            <a:ext cx="3149498" cy="885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 stacks reside in heap memory and dynamically resize, eliminating OS thread pre-allocation.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3938" y="4326575"/>
            <a:ext cx="3423818" cy="1891345"/>
          </a:xfrm>
          <a:prstGeom prst="roundRect">
            <a:avLst>
              <a:gd name="adj" fmla="val 8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1098" y="4509455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21098" y="4966655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Switching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1098" y="5240975"/>
            <a:ext cx="3149498" cy="885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Unmounts and remounts onto carrier fork-join workers in sub-microsecond time when blocking on socket I/O.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36357" y="4326575"/>
            <a:ext cx="3423818" cy="1891345"/>
          </a:xfrm>
          <a:prstGeom prst="roundRect">
            <a:avLst>
              <a:gd name="adj" fmla="val 8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3517" y="4509455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73517" y="4966655"/>
            <a:ext cx="31494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ZGC Pause Times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73517" y="5240975"/>
            <a:ext cx="3149498" cy="8855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ZGC keeps GC pauses below 1ms regardless of multi-gigabyte agent conversational context trees.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Enterprise Agent Architecture on the JVM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decoupled layers separating cognition, execution, persistence, and external tool interfaces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10728655" cy="806958"/>
          </a:xfrm>
          <a:prstGeom prst="roundRect">
            <a:avLst>
              <a:gd name="adj" fmla="val 203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38528"/>
            <a:ext cx="1920240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&amp; API GATEWAY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938528"/>
            <a:ext cx="18288" cy="53263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938528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2029968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048256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18688" y="2322576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Cloud Gateway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596896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Auth, Routing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77458" y="1938528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14618" y="2029968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4618" y="2048256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87186" y="2322576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/ WebSocket Bridge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68898" y="2596896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token delivery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45957" y="1938528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83117" y="2029968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83117" y="2048256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55685" y="2322576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Exporter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37397" y="2596896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trace propagation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2791206"/>
            <a:ext cx="10728655" cy="806958"/>
          </a:xfrm>
          <a:prstGeom prst="roundRect">
            <a:avLst>
              <a:gd name="adj" fmla="val 203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928366"/>
            <a:ext cx="1920240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ORCHESTRATION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0" y="2928366"/>
            <a:ext cx="18288" cy="53263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2928366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3019806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038094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LOOP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18688" y="3312414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Reasoning Loop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3586734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deliberation &amp; state machine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77458" y="2928366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14618" y="3019806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14618" y="3038094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87186" y="3312414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68898" y="3586734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window, token pruning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645957" y="2928366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83117" y="3019806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83117" y="3038094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755685" y="3312414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Tool Router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37397" y="3586734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dispatch &amp; validation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" y="3781044"/>
            <a:ext cx="10728655" cy="806958"/>
          </a:xfrm>
          <a:prstGeom prst="roundRect">
            <a:avLst>
              <a:gd name="adj" fmla="val 203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3918204"/>
            <a:ext cx="1920240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LOOM EXECUTION MESH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926080" y="3918204"/>
            <a:ext cx="18288" cy="53263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08960" y="3918204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46120" y="4009644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4027932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JDK 21+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18688" y="4302252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StructuredTaskScope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00400" y="4576572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sub-agent fork/join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77458" y="3918204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14618" y="4009644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14618" y="4027932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87186" y="4302252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Thread Pool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968898" y="4576572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Zero-starvation I/O workers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645957" y="3918204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83117" y="4009644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83117" y="4027932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755685" y="4302252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Breakers &amp; Retries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737397" y="4576572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 fault isolation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0" y="4770882"/>
            <a:ext cx="10728655" cy="806958"/>
          </a:xfrm>
          <a:prstGeom prst="roundRect">
            <a:avLst>
              <a:gd name="adj" fmla="val 203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" y="4908042"/>
            <a:ext cx="1920240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INFERENCE BACKENDS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926080" y="4908042"/>
            <a:ext cx="18288" cy="53263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08960" y="4908042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46120" y="4999482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46120" y="5017770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18688" y="5292090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Embeddings Store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200400" y="5566410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/ Milvus / Qdrant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877458" y="4908042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14618" y="4999482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14618" y="5017770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987186" y="5292090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Store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968898" y="5566410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conversational audit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645957" y="4908042"/>
            <a:ext cx="2631338" cy="532638"/>
          </a:xfrm>
          <a:prstGeom prst="roundRect">
            <a:avLst>
              <a:gd name="adj" fmla="val 30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83117" y="4999482"/>
            <a:ext cx="2357018" cy="219456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83117" y="5017770"/>
            <a:ext cx="2357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755685" y="5292090"/>
            <a:ext cx="241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 Gateway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737397" y="5566410"/>
            <a:ext cx="2448458" cy="-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vLLM / Bedrock / OpenAI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31520" y="5669280"/>
            <a:ext cx="10728655" cy="54864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05840" y="576072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PRINCIPLE: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decoupling the ReAct loop from the execution mesh, agents can fork parallel tool calls safely without thread starvation or memory leaks.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Tool Execution with Structured Concurrency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JEP 480 StructuredTaskScope to coordinate multi-tool agent subtasks cleanly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6437193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929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929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929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847088"/>
            <a:ext cx="55227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AgentToolCoordinator.java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167128"/>
            <a:ext cx="6437193" cy="405079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50008"/>
            <a:ext cx="5979993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ToolExecutionResult(String toolName, String output, long latencyMs) {}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AgentToolCoordinator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List&lt;ToolExecutionResult&gt; executeToolsConcurrently(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List&lt;ToolCallRequest&gt; requests) throws InterruptedException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(var scope = new StructuredTaskScope.ShutdownOnFailure())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List&lt;Subtask&lt;ToolExecutionResult&gt;&gt; subtasks = requests.stream()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.map(req -&gt; scope.fork(() -&gt; invokeToolSafely(req)))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.toList();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scope.join();           // Block carrier until all finish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scope.throwIfFailed();  // Propagate first failure cleanly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subtasks.stream()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.map(Subtask::get)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.toList();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88753" y="1801368"/>
            <a:ext cx="3971422" cy="4416552"/>
          </a:xfrm>
          <a:prstGeom prst="roundRect">
            <a:avLst>
              <a:gd name="adj" fmla="val 41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7353" y="2029968"/>
            <a:ext cx="35142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ARCHITECTURAL BENEFITS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17353" y="248716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91673" y="2441448"/>
            <a:ext cx="3239902" cy="806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Lifetime: Child threads cannot outlive the try-with-resources scope block, preventing thread leaks.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17353" y="338556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91673" y="3339846"/>
            <a:ext cx="3239902" cy="806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Short-Circuiting: If any mission-critical tool fails, ShutdownOnFailure cancels sibling threads immediately.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17353" y="428396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91673" y="4238244"/>
            <a:ext cx="3239902" cy="806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Propagation: Checked exceptions are captured and propagated without opaque Future wrappers.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17353" y="518236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91673" y="5136642"/>
            <a:ext cx="3239902" cy="806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Stack traces preserve exact parent-child hierarchy across asynchronous agent branches.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Cognitive Loop: ReAct &amp; Self-Reflection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JVM agents process inputs, plan multi-hop actions, and validate tool feedback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92808"/>
            <a:ext cx="1743395" cy="3291840"/>
          </a:xfrm>
          <a:prstGeom prst="roundRect">
            <a:avLst>
              <a:gd name="adj" fmla="val 94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4618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4618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15768"/>
            <a:ext cx="14690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&amp; Ingestion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218688"/>
            <a:ext cx="146907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user prompt enriched with conversational history, user claims, and vector memory context.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3495" y="3401568"/>
            <a:ext cx="365760" cy="2743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7835" y="1892808"/>
            <a:ext cx="1743395" cy="3291840"/>
          </a:xfrm>
          <a:prstGeom prst="roundRect">
            <a:avLst>
              <a:gd name="adj" fmla="val 94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20933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0933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14995" y="2715768"/>
            <a:ext cx="14690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&amp; Thought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14995" y="3218688"/>
            <a:ext cx="146907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formulates structured thought step, identifying missing data points and deciding next action.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89810" y="3401568"/>
            <a:ext cx="365760" cy="2743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24150" y="1892808"/>
            <a:ext cx="1743395" cy="3291840"/>
          </a:xfrm>
          <a:prstGeom prst="roundRect">
            <a:avLst>
              <a:gd name="adj" fmla="val 94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67248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7248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61310" y="2715768"/>
            <a:ext cx="14690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 &amp; Bind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61310" y="3218688"/>
            <a:ext cx="146907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matcher maps action to strongly-typed Java Record with automated argument validation.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36125" y="3401568"/>
            <a:ext cx="365760" cy="2743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0465" y="1892808"/>
            <a:ext cx="1743395" cy="3291840"/>
          </a:xfrm>
          <a:prstGeom prst="roundRect">
            <a:avLst>
              <a:gd name="adj" fmla="val 94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3563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3563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07625" y="2715768"/>
            <a:ext cx="14690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Sandboxed Execution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07625" y="3218688"/>
            <a:ext cx="146907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invoked in isolated virtual thread with timeout, circuit breaker, and audit logging.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82440" y="3401568"/>
            <a:ext cx="365760" cy="27432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16780" y="1892808"/>
            <a:ext cx="1743395" cy="3291840"/>
          </a:xfrm>
          <a:prstGeom prst="roundRect">
            <a:avLst>
              <a:gd name="adj" fmla="val 94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59878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59878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53940" y="2715768"/>
            <a:ext cx="14690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Synthesis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53940" y="3218688"/>
            <a:ext cx="146907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evaluated against goal. Loop either iterates or yields final validated response.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5367528"/>
            <a:ext cx="10728655" cy="54864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413248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/ OUTCOME: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deterministic state transitions with audit trail captured in OpenTelemetry trace spans.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Tool Definitions with Java Records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type-safe schema generation without manual JSON-Schema drafting or runtime bugs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6437193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929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929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92938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847088"/>
            <a:ext cx="55227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CustomerAccountTool.java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167128"/>
            <a:ext cx="6437193" cy="405079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50008"/>
            <a:ext cx="5979993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CustomerAccountTool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record AccountQuery(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@Description("Unique 10-digit customer UUID")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UUID customerId,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@Description("Flag to retrieve active credit balance")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boolean includeCreditHistory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{}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@Tool(name = "query_customer_account",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description = "Fetches audited account details and risk tier")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AccountDetails execute(AccountQuery query)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Strongly-typed inputs directly mapped from LLM 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accountRepository.findByCustomerId(query.customerId())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.map(acc -&gt; new AccountDetails(acc.id(), acc.status(), acc.tier()))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.orElseThrow(() -&gt; new AccountNotFoundException(query.customerId()));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88753" y="1801368"/>
            <a:ext cx="3971422" cy="4416552"/>
          </a:xfrm>
          <a:prstGeom prst="roundRect">
            <a:avLst>
              <a:gd name="adj" fmla="val 41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7353" y="2029968"/>
            <a:ext cx="35142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ERGONOMICS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17353" y="248716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91673" y="2441448"/>
            <a:ext cx="3239902" cy="806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Boilerplate: Java records automatically generate immutable state, equals, hashCode, and toString.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17353" y="338556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91673" y="3339846"/>
            <a:ext cx="3239902" cy="806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Generation: Frameworks reflect record component names and @Description annotations to build JSON-Schema.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17353" y="428396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91673" y="4238244"/>
            <a:ext cx="3239902" cy="806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Coercion: Primitive types, UUIDs, enums, and Instant timestamps are parsed and validated automatically.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17353" y="518236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91673" y="5136642"/>
            <a:ext cx="3239902" cy="806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Compilation-Level Safety: Renaming fields in tools automatically refactors everywhere with zero runtime surprises.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37160" cy="557784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188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207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963137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Ecosystem &amp; Production Patterns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80160" y="3200400"/>
            <a:ext cx="96313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Java AI framework landscape has matured rapidly into robust production ecosystems. Choosing between Spring AI, LangChain4j, and Semantic Kernel depends on your team's existing architecture, dependency constraints, and multi-agent requirements.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4389120"/>
            <a:ext cx="42976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407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AI ARCHITECTURE &amp; BOOT 3 INTEGRATION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438912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4407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LANGCHAIN4J MODULAR DESIGN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438912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ABSTRACTIONS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521440" y="438912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0" y="4407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Comparison: Leading JVM AI Frameworks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Spring AI, LangChain4j, and Microsoft Semantic Kernel Java for production adoption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3423818" cy="4416552"/>
          </a:xfrm>
          <a:prstGeom prst="roundRect">
            <a:avLst>
              <a:gd name="adj" fmla="val 4807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2996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48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STANDARD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414016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825496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Spring Boot 3.3+ extension with auto-configuration and Spring Cloud synergy.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328416"/>
            <a:ext cx="305805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65576"/>
            <a:ext cx="3058058" cy="2569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with Spring Boot configuration properties and security.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abstraction over ChatModel, EmbeddingModel, and VectorStore.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OpenTelemetry instrumentation with Micrometer metrics.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 existing Spring Boot microservice architectures.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3938" y="1801368"/>
            <a:ext cx="3423818" cy="4416552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6818" y="20299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6818" y="2048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POLYGLOT &amp; MODULAR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66818" y="2414016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LangChain4j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66818" y="2825496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Zero-dependency, standalone Java framework compatible with Quarkus, Micronaut, and plain Java.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66818" y="3328416"/>
            <a:ext cx="305805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6818" y="3465576"/>
            <a:ext cx="3058058" cy="2569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lightweight with minimal transitive dependencies.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out-of-the-box support for 15+ vector databases and 20+ LLMs.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declarative AiServices interface proxies.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high-density containers and non-Spring JVM applications.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1801368"/>
            <a:ext cx="3423818" cy="4416552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9237" y="202996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9237" y="2048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ECOSYSTEM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19237" y="2414016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Kernel Java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19237" y="2825496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port of Microsoft Semantic Kernel tailored for Azure OpenAI architectures.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19237" y="3328416"/>
            <a:ext cx="305805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9237" y="3465576"/>
            <a:ext cx="3058058" cy="2569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synergy with Azure OpenAI Service and Microsoft Copilot stack.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and planner-oriented programming paradigm.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prompt template syntax with .NET and Python SDKs.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enterprises standardized on Microsoft Azure infrastructure.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BENCHMARK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Benchmarks: Virtual Threads vs Platform Threads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multi-agent workload: 2,500 concurrent agent sessions with 800ms average LLM latency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6222620" cy="4416552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1005840" y="2075688"/>
          <a:ext cx="5673980" cy="36850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005840" y="5852160"/>
            <a:ext cx="56739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JVM Agent Benchmark Suite 2026, AWS c6i.2xlarge, JDK 21.0.4, 2500 concurrent client sessions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83286" y="1801368"/>
            <a:ext cx="4076889" cy="4416552"/>
          </a:xfrm>
          <a:prstGeom prst="roundRect">
            <a:avLst>
              <a:gd name="adj" fmla="val 40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11886" y="2029968"/>
            <a:ext cx="36196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 INSIGHTS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11886" y="24414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86206" y="2395728"/>
            <a:ext cx="3345369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19.6x Throughput Gain: Virtual threads sustain over 2,450 agent requests/sec while platform thread pools saturate on socket wait.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11886" y="36393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86206" y="3593592"/>
            <a:ext cx="3345369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Memory Reduction: Platform thread stacks balloon heap usage to 920MB, whereas virtual threads consume only 210MB under identical concurrency.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11886" y="483717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86206" y="4791456"/>
            <a:ext cx="3345369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Queue Depletion: Eliminates request queuing and thread-pool exhaustion timeouts during LLM rate spikes.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Case Study: Tier-1 Bank Fraud Investigation Mesh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a legacy manual anti-fraud workflow to an autonomous JVM agent swarm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3393338" cy="4416552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299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761488"/>
            <a:ext cx="302757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98648"/>
            <a:ext cx="302757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triaging of 15,000 daily flagged AML/fraud events took an average of 42 minutes per case, causing regulatory backlog and high analyst burnout.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99178" y="1801368"/>
            <a:ext cx="3393338" cy="4416552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82058" y="202996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2058" y="2048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82058" y="2395728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82058" y="2761488"/>
            <a:ext cx="302757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2058" y="2898648"/>
            <a:ext cx="302757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 fraud investigation into a 4-agent JVM swarm (Audit Agent, Geo-Pattern Agent, Transaction Graph Agent, and Report Synthesizer) running on Spring AI + Loom.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6837" y="1801368"/>
            <a:ext cx="3393338" cy="4416552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49717" y="20299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9717" y="2048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49717" y="2395728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IMPACT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49717" y="2761488"/>
            <a:ext cx="302757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9717" y="2898648"/>
            <a:ext cx="3027578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Reduction in Mean-Time-to-Resolution: Case investigation dropped from 42 minutes to under 7 minutes.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False-Positive Escalations: Multi-agent consensus cross-checks historical KYC documents against real-time SWIFT logs.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 Annual Operational Savings: Analysts focus purely on high-severity, human-in-the-loop fraud decisions.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TRADE-OFFS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Trade-offs: Java vs Python for AI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honest, pragmatic appraisal of ecosystem strengths, weaknesses, and enterprise suitability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5204308" cy="3456432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02996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48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/ PROS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487168"/>
            <a:ext cx="4655668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Unrivaled Multi-Threading: Virtual threads beat Python's GIL and AsyncIO callback hell for heavy I/O agent loops.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 &amp; Refactoring: Strict compile-time checks eliminate silent schema mismatches and runtime crashes.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Telemetry: Deep OpenTelemetry, Micrometer, and Prometheus integration ready on day one.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Governance: Reuses existing JVM CI/CD pipelines, container images, and security vulnerability scanning.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1801368"/>
            <a:ext cx="5204308" cy="3456432"/>
          </a:xfrm>
          <a:prstGeom prst="roundRect">
            <a:avLst>
              <a:gd name="adj" fmla="val 4762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0188" y="2029968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0188" y="2048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/ LIMITATIONS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0188" y="2487168"/>
            <a:ext cx="4655668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 Gap: Python notebooks (Jupyter) remain faster for day-zero exploratory research and experimentation.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Lag on New Research: Emerging experimental agent papers usually publish reference code in Python first.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Initial Verbosity: Java demands explicit types, records, and configuration compared to dynamic Python scripts.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5440680"/>
            <a:ext cx="10728655" cy="73152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53212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VERDICT: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 Python for research; deploy on the Java JVM for production scale, reliability, and enterprise compliance.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Architecture Takeaways for Java Engineering Teams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principles to guide your enterprise AI agent roadmap in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10728655" cy="577901"/>
          </a:xfrm>
          <a:prstGeom prst="roundRect">
            <a:avLst>
              <a:gd name="adj" fmla="val 28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01368"/>
            <a:ext cx="91440" cy="577901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92808"/>
            <a:ext cx="41148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892808"/>
            <a:ext cx="9814255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Standardize on Java 21+ Immediately: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Adopt Virtual Threads and Structured Concurrency as the mandatory foundation for all agent I/O orchestration.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43861"/>
            <a:ext cx="10728655" cy="577901"/>
          </a:xfrm>
          <a:prstGeom prst="roundRect">
            <a:avLst>
              <a:gd name="adj" fmla="val 28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543861"/>
            <a:ext cx="91440" cy="577901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35301"/>
            <a:ext cx="41148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635301"/>
            <a:ext cx="9814255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Enforce Type-Safe Tool Boundaries: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Use Java Records for all tool inputs and outputs. Never pass raw JSON objects across agent cognitive boundaries.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286354"/>
            <a:ext cx="10728655" cy="577901"/>
          </a:xfrm>
          <a:prstGeom prst="roundRect">
            <a:avLst>
              <a:gd name="adj" fmla="val 28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286354"/>
            <a:ext cx="91440" cy="577901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77794"/>
            <a:ext cx="41148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377794"/>
            <a:ext cx="9814255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Build Observability into the Foundation: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Instrument every LLM call, token count, latency, and tool execution with OpenTelemetry distributed traces.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028846"/>
            <a:ext cx="10728655" cy="577901"/>
          </a:xfrm>
          <a:prstGeom prst="roundRect">
            <a:avLst>
              <a:gd name="adj" fmla="val 28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028846"/>
            <a:ext cx="91440" cy="577901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120286"/>
            <a:ext cx="41148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120286"/>
            <a:ext cx="9814255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Choose Framework by Ecosystem Fit: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Select Spring AI for Spring Boot enterprise services; choose LangChain4j for lightweight polyglot or modular deployments.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771339"/>
            <a:ext cx="10728655" cy="577901"/>
          </a:xfrm>
          <a:prstGeom prst="roundRect">
            <a:avLst>
              <a:gd name="adj" fmla="val 28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771339"/>
            <a:ext cx="91440" cy="577901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862779"/>
            <a:ext cx="41148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4862779"/>
            <a:ext cx="9814255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Design for Human-in-the-Loop Governance: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Ensure agents produce auditable rationale, source citations, and deterministic fallbacks for high-impact actions.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5532120"/>
            <a:ext cx="10728655" cy="6858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623560"/>
            <a:ext cx="101800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modernizing one I/O-heavy integration using StructuredTaskScope and a LangChain4j / Spring AI agent prototype this sprint.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&amp; REFERENCES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Specifications, Open-Source Repositories &amp; Contact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OpenJDK JEPs, framework documentation, and reference architectures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6651766" cy="4416552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9968"/>
            <a:ext cx="61031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REFERENCES &amp; SPECIFICATIONS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395728"/>
            <a:ext cx="6103126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JEP 444: Virtual Threads (Java 21 LTS)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OpenJDK Core Libraries Group  |  </a:t>
            </a:r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https://openjdk.org/jeps/444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32734"/>
            <a:ext cx="6103126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JEP 480: Structured Concurrency (Java 24)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OpenJDK Project Loom  |  </a:t>
            </a:r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https://openjdk.org/jeps/480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869741"/>
            <a:ext cx="6103126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Spring AI Enterprise Reference Manual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VMware Tanzu / Spring Team  |  </a:t>
            </a:r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https://docs.spring.io/spring-ai/reference/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606747"/>
            <a:ext cx="6103126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LangChain4j GitHub &amp; Architectural Guides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LangChain4j Community  |  </a:t>
            </a:r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https://github.com/langchain4j/langchain4j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343754"/>
            <a:ext cx="6103126" cy="66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Semantic Kernel Java SDK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Open Source  |  </a:t>
            </a:r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https://github.com/microsoft/semantic-kernel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03326" y="1801368"/>
            <a:ext cx="3756849" cy="4416552"/>
          </a:xfrm>
          <a:prstGeom prst="roundRect">
            <a:avLst>
              <a:gd name="adj" fmla="val 4381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7646" y="20756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7646" y="20939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77646" y="2487168"/>
            <a:ext cx="32082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77646" y="3127248"/>
            <a:ext cx="320820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attending! Slides, sample code, and architecture diagrams are licensed under Apache 2.0 and available for your teams.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77646" y="4754880"/>
            <a:ext cx="3208209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AI Architecture Practice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Systems Architects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architecture@java-ai-conference.org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@JavaAgenticArch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https://openjdk.org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Autonomous AI Agents on the Modern Java JDK | Java Technical Conference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Java Technical Conference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Architecting Autonomous AI Agents on the Modern Java JDK</dc:title>
  <dc:subject>Building Enterprise-Grade AI Agents with Java 21+, Virtual Threads, and Structured Concurrency</dc:subject>
  <dc:creator>Antigravity Systems Architect</dc:creator>
  <cp:lastModifiedBy>Antigravity Systems Architect</cp:lastModifiedBy>
  <cp:revision>1</cp:revision>
  <dcterms:created xsi:type="dcterms:W3CDTF">2026-10-21T16:52:21Z</dcterms:created>
  <dcterms:modified xsi:type="dcterms:W3CDTF">2026-10-21T16:52:21Z</dcterms:modified>
</cp:coreProperties>
</file>